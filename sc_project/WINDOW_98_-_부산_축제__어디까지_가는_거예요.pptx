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64" r:id="rId12"/>
  </p:sldIdLst>
  <p:sldSz cx="24384000" cy="13716000"/>
  <p:notesSz cx="6858000" cy="9144000"/>
  <p:embeddedFontLst>
    <p:embeddedFont>
      <p:font typeface="Gmarket Sans Bold" panose="020B0600000101010101" charset="-127"/>
      <p:bold r:id="rId14"/>
    </p:embeddedFont>
    <p:embeddedFont>
      <p:font typeface="Gmarket Sans Light" panose="020B0600000101010101" charset="-127"/>
      <p:regular r:id="rId15"/>
    </p:embeddedFont>
    <p:embeddedFont>
      <p:font typeface="Gmarket Sans Medium" panose="020B0600000101010101" charset="-127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6" autoAdjust="0"/>
    <p:restoredTop sz="94622" autoAdjust="0"/>
  </p:normalViewPr>
  <p:slideViewPr>
    <p:cSldViewPr>
      <p:cViewPr varScale="1">
        <p:scale>
          <a:sx n="76" d="100"/>
          <a:sy n="76" d="100"/>
        </p:scale>
        <p:origin x="20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E84D-0929-425A-8849-5C218EF458B7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5E030-97B1-40FE-8339-C22910006C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5E030-97B1-40FE-8339-C22910006CB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079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5E030-97B1-40FE-8339-C22910006CB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9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5" Type="http://schemas.openxmlformats.org/officeDocument/2006/relationships/image" Target="../media/image31.pn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0.png"/><Relationship Id="rId5" Type="http://schemas.openxmlformats.org/officeDocument/2006/relationships/image" Target="../media/image3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3.pn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E93B76FA-1F7E-42DE-B3F8-91D25044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965200"/>
            <a:ext cx="25488900" cy="2548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16100" y="7493000"/>
            <a:ext cx="8750300" cy="660400"/>
          </a:xfrm>
          <a:prstGeom prst="rect">
            <a:avLst/>
          </a:prstGeom>
        </p:spPr>
        <p:txBody>
          <a:bodyPr lIns="0" tIns="4741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부산 시민들과 관광객들을 위한 축제 커뮤니티</a:t>
            </a:r>
            <a:endParaRPr lang="en-US" sz="32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16100" y="8407400"/>
            <a:ext cx="13195300" cy="4521200"/>
          </a:xfrm>
          <a:prstGeom prst="rect">
            <a:avLst/>
          </a:prstGeom>
        </p:spPr>
        <p:txBody>
          <a:bodyPr lIns="0" tIns="17367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1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부산</a:t>
            </a:r>
            <a:r>
              <a:rPr lang="en-US" altLang="ko-KR" sz="9000" b="1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,</a:t>
            </a:r>
          </a:p>
          <a:p>
            <a:pPr lvl="0" algn="l">
              <a:lnSpc>
                <a:spcPct val="99600"/>
              </a:lnSpc>
            </a:pPr>
            <a:r>
              <a:rPr lang="ko-KR" altLang="en-US" sz="8500" b="1" i="0" u="none" strike="noStrike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축제 어디까지</a:t>
            </a:r>
            <a:endParaRPr lang="en-US" altLang="ko-KR" sz="8500" b="1" i="0" u="none" strike="noStrike" dirty="0">
              <a:solidFill>
                <a:srgbClr val="1D70FF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8500" b="1" i="0" u="none" strike="noStrike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가는 거예요</a:t>
            </a:r>
            <a:r>
              <a:rPr lang="en-US" altLang="ko-KR" sz="8500" b="1" i="0" u="none" strike="noStrike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?</a:t>
            </a:r>
            <a:endParaRPr lang="en-US" sz="8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05000" y="1397000"/>
            <a:ext cx="7505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00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SSAFY X WINDOW 98</a:t>
            </a:r>
            <a:endParaRPr lang="en-US" sz="2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148300" y="1397000"/>
            <a:ext cx="4279900" cy="1612900"/>
          </a:xfrm>
          <a:prstGeom prst="rect">
            <a:avLst/>
          </a:prstGeom>
        </p:spPr>
        <p:txBody>
          <a:bodyPr lIns="0" tIns="42332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방호준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 이승우 이승진</a:t>
            </a:r>
            <a:endParaRPr lang="en-US" altLang="ko-KR" sz="2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31E2DA2-68CD-4331-B558-51A0008BB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3302" y="1066800"/>
            <a:ext cx="9167156" cy="12971526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097B22A7-97D0-42A7-9087-624382A7ACD6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">
            <a:extLst>
              <a:ext uri="{FF2B5EF4-FFF2-40B4-BE49-F238E27FC236}">
                <a16:creationId xmlns:a16="http://schemas.microsoft.com/office/drawing/2014/main" id="{8A0ADF40-9B03-4DD2-8DDA-2C9FDA888C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4953000" y="-635000"/>
            <a:ext cx="25488900" cy="25488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4013200"/>
            <a:ext cx="6705600" cy="626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84200" y="4318000"/>
            <a:ext cx="5854700" cy="1435100"/>
          </a:xfrm>
          <a:prstGeom prst="rect">
            <a:avLst/>
          </a:prstGeom>
          <a:effectLst>
            <a:outerShdw blurRad="86317" dist="165994" dir="2700000">
              <a:srgbClr val="000000">
                <a:alpha val="15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5100" y="4584700"/>
            <a:ext cx="965200" cy="90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84200" y="6502400"/>
            <a:ext cx="5854700" cy="1435100"/>
          </a:xfrm>
          <a:prstGeom prst="rect">
            <a:avLst/>
          </a:prstGeom>
          <a:effectLst>
            <a:outerShdw blurRad="86317" dist="165994" dir="2700000">
              <a:srgbClr val="000000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5100" y="6769100"/>
            <a:ext cx="965200" cy="90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84200" y="8712200"/>
            <a:ext cx="5854700" cy="1435100"/>
          </a:xfrm>
          <a:prstGeom prst="rect">
            <a:avLst/>
          </a:prstGeom>
          <a:effectLst>
            <a:outerShdw blurRad="86317" dist="165994" dir="2700000">
              <a:srgbClr val="000000">
                <a:alpha val="15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45100" y="8978900"/>
            <a:ext cx="965200" cy="901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248" b="0" i="0" u="none" strike="noStrike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목차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754100" y="4838700"/>
            <a:ext cx="40132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기획 목적</a:t>
            </a:r>
            <a:endParaRPr lang="en-US" sz="3248" b="0" i="0" u="none" strike="noStrike" dirty="0">
              <a:solidFill>
                <a:srgbClr val="FFFFFF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754100" y="7023100"/>
            <a:ext cx="40132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구현 기능</a:t>
            </a:r>
            <a:endParaRPr lang="en-US" sz="3248" b="0" i="0" u="none" strike="noStrike" dirty="0">
              <a:solidFill>
                <a:srgbClr val="FFFFFF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754100" y="9232900"/>
            <a:ext cx="40132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D8E6FF"/>
                </a:solidFill>
                <a:latin typeface="Gmarket Sans Medium"/>
                <a:ea typeface="Gmarket Sans Medium"/>
                <a:cs typeface="Gmarket Sans Medium"/>
              </a:rPr>
              <a:t>커뮤니티 소개</a:t>
            </a:r>
            <a:endParaRPr lang="en-US" sz="3248" b="0" i="0" u="none" strike="noStrike" dirty="0">
              <a:solidFill>
                <a:srgbClr val="FFFFFF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33" name="Picture 5">
            <a:extLst>
              <a:ext uri="{FF2B5EF4-FFF2-40B4-BE49-F238E27FC236}">
                <a16:creationId xmlns:a16="http://schemas.microsoft.com/office/drawing/2014/main" id="{703CB3E2-BE25-4CB2-8B52-9DDAB9DD9D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9200" y="6094034"/>
            <a:ext cx="1473200" cy="3126166"/>
          </a:xfrm>
          <a:prstGeom prst="rect">
            <a:avLst/>
          </a:prstGeom>
        </p:spPr>
      </p:pic>
      <p:sp>
        <p:nvSpPr>
          <p:cNvPr id="37" name="TextBox 14">
            <a:extLst>
              <a:ext uri="{FF2B5EF4-FFF2-40B4-BE49-F238E27FC236}">
                <a16:creationId xmlns:a16="http://schemas.microsoft.com/office/drawing/2014/main" id="{7BB32F31-DA33-4C05-8D0E-EACD6BBE0D7C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2</a:t>
            </a:r>
            <a:endParaRPr lang="en-US" sz="20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3175000" y="1384300"/>
            <a:ext cx="14795500" cy="1479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303500" y="3403600"/>
            <a:ext cx="14795500" cy="147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6400" y="3378200"/>
            <a:ext cx="15951200" cy="1384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기획 목적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524500" y="3683000"/>
            <a:ext cx="13335000" cy="901700"/>
          </a:xfrm>
          <a:prstGeom prst="rect">
            <a:avLst/>
          </a:prstGeom>
        </p:spPr>
        <p:txBody>
          <a:bodyPr lIns="0" tIns="6434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‘</a:t>
            </a:r>
            <a:r>
              <a:rPr lang="ko-KR" altLang="en-US" sz="5066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부산 시민과 관광객을 위한</a:t>
            </a:r>
            <a:r>
              <a:rPr lang="en-US" sz="5066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’ </a:t>
            </a:r>
            <a:r>
              <a:rPr lang="ko-KR" altLang="en-US" sz="5066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축제 커뮤니티</a:t>
            </a:r>
            <a:endParaRPr lang="en-US" sz="5066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EE06BC89-04AA-43A0-B7ED-DDEF5A3C1F5F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3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11A874F-E329-416F-A1D1-3D5C7E919534}"/>
              </a:ext>
            </a:extLst>
          </p:cNvPr>
          <p:cNvGrpSpPr/>
          <p:nvPr/>
        </p:nvGrpSpPr>
        <p:grpSpPr>
          <a:xfrm>
            <a:off x="4076700" y="7035800"/>
            <a:ext cx="8115300" cy="7315200"/>
            <a:chOff x="4152900" y="7658100"/>
            <a:chExt cx="8115300" cy="73152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52900" y="7658100"/>
              <a:ext cx="8115300" cy="7315200"/>
            </a:xfrm>
            <a:prstGeom prst="rect">
              <a:avLst/>
            </a:prstGeom>
            <a:effectLst>
              <a:outerShdw blurRad="292540" dist="281288" dir="2700000">
                <a:srgbClr val="000000">
                  <a:alpha val="10000"/>
                </a:srgbClr>
              </a:outerShdw>
            </a:effectLst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4100" y="9677400"/>
              <a:ext cx="444500" cy="31750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0800000">
              <a:off x="11036300" y="9677400"/>
              <a:ext cx="444500" cy="3175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5467350" y="9486900"/>
              <a:ext cx="5486400" cy="1562100"/>
            </a:xfrm>
            <a:prstGeom prst="rect">
              <a:avLst/>
            </a:prstGeom>
          </p:spPr>
          <p:txBody>
            <a:bodyPr lIns="0" tIns="11125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8000" b="0" i="0" u="none" strike="noStrike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36</a:t>
              </a:r>
              <a:r>
                <a:rPr lang="en-US" sz="8000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4</a:t>
              </a:r>
              <a:r>
                <a:rPr lang="ko-KR" altLang="en-US" sz="8000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만 </a:t>
              </a:r>
              <a:r>
                <a:rPr lang="en-US" altLang="ko-KR" sz="8000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3,439</a:t>
              </a:r>
              <a:r>
                <a:rPr lang="ko-KR" altLang="en-US" sz="8000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명</a:t>
              </a:r>
              <a:endParaRPr lang="en-US" sz="8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7381E061-FB56-44B8-A846-160029D94E19}"/>
                </a:ext>
              </a:extLst>
            </p:cNvPr>
            <p:cNvGrpSpPr/>
            <p:nvPr/>
          </p:nvGrpSpPr>
          <p:grpSpPr>
            <a:xfrm>
              <a:off x="6000750" y="7861300"/>
              <a:ext cx="4419600" cy="1094014"/>
              <a:chOff x="6311900" y="7723414"/>
              <a:chExt cx="4419600" cy="1094014"/>
            </a:xfrm>
          </p:grpSpPr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11900" y="7723414"/>
                <a:ext cx="4419600" cy="1094014"/>
              </a:xfrm>
              <a:prstGeom prst="rect">
                <a:avLst/>
              </a:prstGeom>
            </p:spPr>
          </p:pic>
          <p:sp>
            <p:nvSpPr>
              <p:cNvPr id="30" name="TextBox 30"/>
              <p:cNvSpPr txBox="1"/>
              <p:nvPr/>
            </p:nvSpPr>
            <p:spPr>
              <a:xfrm>
                <a:off x="6692900" y="7875814"/>
                <a:ext cx="3657600" cy="469900"/>
              </a:xfrm>
              <a:prstGeom prst="rect">
                <a:avLst/>
              </a:prstGeom>
            </p:spPr>
            <p:txBody>
              <a:bodyPr lIns="0" tIns="33184" rIns="0" bIns="0" rtlCol="0" anchor="t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2612" b="0" i="0" u="none" strike="noStrike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2025 </a:t>
                </a:r>
                <a:r>
                  <a:rPr lang="ko-KR" altLang="en-US" sz="2612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부산 외국인 관광객 통계</a:t>
                </a:r>
                <a:endParaRPr lang="en-US" sz="2612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endParaRPr>
              </a:p>
            </p:txBody>
          </p:sp>
        </p:grpSp>
        <p:sp>
          <p:nvSpPr>
            <p:cNvPr id="36" name="TextBox 29">
              <a:extLst>
                <a:ext uri="{FF2B5EF4-FFF2-40B4-BE49-F238E27FC236}">
                  <a16:creationId xmlns:a16="http://schemas.microsoft.com/office/drawing/2014/main" id="{045A6EA3-5707-4CFD-9F66-FBA0A49D6F7B}"/>
                </a:ext>
              </a:extLst>
            </p:cNvPr>
            <p:cNvSpPr txBox="1"/>
            <p:nvPr/>
          </p:nvSpPr>
          <p:spPr>
            <a:xfrm>
              <a:off x="5467350" y="12881429"/>
              <a:ext cx="5486400" cy="1562100"/>
            </a:xfrm>
            <a:prstGeom prst="rect">
              <a:avLst/>
            </a:prstGeom>
          </p:spPr>
          <p:txBody>
            <a:bodyPr lIns="0" tIns="11125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8000" b="0" i="0" u="none" strike="noStrike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1</a:t>
              </a:r>
              <a:r>
                <a:rPr lang="ko-KR" altLang="en-US" sz="8000" b="0" i="0" u="none" strike="noStrike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조 </a:t>
              </a:r>
              <a:r>
                <a:rPr lang="en-US" altLang="ko-KR" sz="8000" b="0" i="0" u="none" strike="noStrike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531</a:t>
              </a:r>
              <a:r>
                <a:rPr lang="ko-KR" altLang="en-US" sz="8000" dirty="0">
                  <a:solidFill>
                    <a:srgbClr val="000000"/>
                  </a:solidFill>
                  <a:latin typeface="Gmarket Sans Medium"/>
                  <a:ea typeface="Gmarket Sans Medium"/>
                  <a:cs typeface="Gmarket Sans Medium"/>
                </a:rPr>
                <a:t>억원</a:t>
              </a:r>
              <a:endParaRPr lang="en-US" sz="8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endParaRPr>
            </a:p>
          </p:txBody>
        </p:sp>
      </p:grpSp>
      <p:pic>
        <p:nvPicPr>
          <p:cNvPr id="39" name="Picture 9">
            <a:extLst>
              <a:ext uri="{FF2B5EF4-FFF2-40B4-BE49-F238E27FC236}">
                <a16:creationId xmlns:a16="http://schemas.microsoft.com/office/drawing/2014/main" id="{85CDC783-9B0B-4BD7-A15F-B28E5B3B10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63024" y="7286113"/>
            <a:ext cx="6972300" cy="7099300"/>
          </a:xfrm>
          <a:prstGeom prst="rect">
            <a:avLst/>
          </a:prstGeom>
        </p:spPr>
      </p:pic>
      <p:sp>
        <p:nvSpPr>
          <p:cNvPr id="40" name="TextBox 23">
            <a:extLst>
              <a:ext uri="{FF2B5EF4-FFF2-40B4-BE49-F238E27FC236}">
                <a16:creationId xmlns:a16="http://schemas.microsoft.com/office/drawing/2014/main" id="{F0A5B8B9-5EF0-4F5D-9577-2B6141649C9E}"/>
              </a:ext>
            </a:extLst>
          </p:cNvPr>
          <p:cNvSpPr txBox="1"/>
          <p:nvPr/>
        </p:nvSpPr>
        <p:spPr>
          <a:xfrm>
            <a:off x="10877550" y="5339736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C8DF348D-5960-45CE-B579-0C6E0164CBDC}"/>
              </a:ext>
            </a:extLst>
          </p:cNvPr>
          <p:cNvSpPr txBox="1"/>
          <p:nvPr/>
        </p:nvSpPr>
        <p:spPr>
          <a:xfrm>
            <a:off x="5648325" y="5033912"/>
            <a:ext cx="1308735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점점 늘어나고 있는 부산 관광 규모</a:t>
            </a:r>
            <a:r>
              <a:rPr lang="en-US" altLang="ko-KR" sz="3248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, </a:t>
            </a:r>
            <a:r>
              <a:rPr lang="ko-KR" altLang="en-US" sz="3248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축제를 위한 관광도 활성화될 예정</a:t>
            </a:r>
            <a:r>
              <a:rPr lang="en-US" altLang="ko-KR" sz="3248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!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BBD211AA-47B1-4A16-A9E5-583F2E8C8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848" y="1244395"/>
            <a:ext cx="15472631" cy="1197630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44B51B5-1F65-485B-AA2A-9FB2F282CA20}"/>
              </a:ext>
            </a:extLst>
          </p:cNvPr>
          <p:cNvGrpSpPr/>
          <p:nvPr/>
        </p:nvGrpSpPr>
        <p:grpSpPr>
          <a:xfrm>
            <a:off x="468495" y="2750814"/>
            <a:ext cx="7233311" cy="6060637"/>
            <a:chOff x="468495" y="2750814"/>
            <a:chExt cx="7233311" cy="6060637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5000318" y="3696160"/>
              <a:ext cx="1823370" cy="111711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421" y="3174530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4329" y="2750814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30" name="TextBox 30"/>
            <p:cNvSpPr txBox="1"/>
            <p:nvPr/>
          </p:nvSpPr>
          <p:spPr>
            <a:xfrm>
              <a:off x="712359" y="2918330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챗봇</a:t>
              </a:r>
              <a:r>
                <a:rPr 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 </a:t>
              </a:r>
              <a:r>
                <a:rPr lang="ko-KR" altLang="en-US" sz="2200" b="0" i="0" u="none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검색창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0" y="4037260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챗봇에게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부산 축제 정보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, 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축제 장소에서</a:t>
              </a:r>
              <a:endParaRPr lang="en-US" altLang="ko-KR" sz="2000" b="1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cs typeface="Gmarket Sans Light"/>
              </a:endParaRPr>
            </a:p>
            <a:p>
              <a:pPr lvl="0" algn="ctr">
                <a:lnSpc>
                  <a:spcPct val="99600"/>
                </a:lnSpc>
              </a:pP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가까운 숙소 정보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를 물어볼 수 있습니다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</a:p>
            <a:p>
              <a:pPr lvl="0" algn="ctr">
                <a:lnSpc>
                  <a:spcPct val="99600"/>
                </a:lnSpc>
              </a:pP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세 가지 질문이 돌아가며 순환합니다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</a:p>
            <a:p>
              <a:pPr lvl="0" algn="ctr">
                <a:lnSpc>
                  <a:spcPct val="99600"/>
                </a:lnSpc>
              </a:pPr>
              <a:endParaRPr lang="en-US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7897" y="7278019"/>
              <a:ext cx="2433909" cy="1117119"/>
            </a:xfrm>
            <a:prstGeom prst="rect">
              <a:avLst/>
            </a:prstGeom>
          </p:spPr>
        </p:pic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58133C2-27BB-46FC-AFCA-673231FD81F9}"/>
                </a:ext>
              </a:extLst>
            </p:cNvPr>
            <p:cNvGrpSpPr/>
            <p:nvPr/>
          </p:nvGrpSpPr>
          <p:grpSpPr>
            <a:xfrm>
              <a:off x="468495" y="7018044"/>
              <a:ext cx="6426200" cy="1793407"/>
              <a:chOff x="1143000" y="8331200"/>
              <a:chExt cx="7378700" cy="23114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1" name="Picture 2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1601" y="8890000"/>
                <a:ext cx="7150099" cy="1752600"/>
              </a:xfrm>
              <a:prstGeom prst="rect">
                <a:avLst/>
              </a:prstGeom>
              <a:effectLst>
                <a:outerShdw blurRad="69946" dist="67256" dir="270000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2" name="Picture 2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3000" y="8331200"/>
                <a:ext cx="6515100" cy="927100"/>
              </a:xfrm>
              <a:prstGeom prst="rect">
                <a:avLst/>
              </a:prstGeom>
              <a:effectLst>
                <a:outerShdw blurRad="36959" dist="106612" dir="270000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32" name="TextBox 32"/>
              <p:cNvSpPr txBox="1"/>
              <p:nvPr/>
            </p:nvSpPr>
            <p:spPr>
              <a:xfrm>
                <a:off x="1358900" y="8547100"/>
                <a:ext cx="6096000" cy="571500"/>
              </a:xfrm>
              <a:prstGeom prst="rect">
                <a:avLst/>
              </a:prstGeom>
            </p:spPr>
            <p:txBody>
              <a:bodyPr lIns="0" tIns="41255" rIns="0" bIns="41255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ko-KR" altLang="en-US" sz="2200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오늘의 </a:t>
                </a:r>
                <a:r>
                  <a:rPr lang="ko-KR" altLang="en-US" sz="2200" dirty="0" err="1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인기글</a:t>
                </a:r>
                <a:r>
                  <a:rPr lang="ko-KR" altLang="en-US" sz="2200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 </a:t>
                </a:r>
                <a:r>
                  <a:rPr lang="en-US" altLang="ko-KR" sz="2200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/</a:t>
                </a:r>
                <a:r>
                  <a:rPr lang="ko-KR" altLang="en-US" sz="2200" dirty="0">
                    <a:solidFill>
                      <a:srgbClr val="FFFFFF"/>
                    </a:solidFill>
                    <a:latin typeface="Gmarket Sans Bold"/>
                    <a:ea typeface="Gmarket Sans Bold"/>
                    <a:cs typeface="Gmarket Sans Bold"/>
                  </a:rPr>
                  <a:t> 시민들과 수다 떨기</a:t>
                </a:r>
                <a:endParaRPr 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09010" y="9696274"/>
                <a:ext cx="6070600" cy="787400"/>
              </a:xfrm>
              <a:prstGeom prst="rect">
                <a:avLst/>
              </a:prstGeom>
            </p:spPr>
            <p:txBody>
              <a:bodyPr lIns="0" tIns="30479" rIns="0" bIns="30479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ko-KR" altLang="en-US" sz="2000" b="1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오늘의 </a:t>
                </a:r>
                <a:r>
                  <a:rPr lang="ko-KR" altLang="en-US" sz="2000" b="1" i="0" u="none" strike="noStrike" dirty="0" err="1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인기글</a:t>
                </a:r>
                <a:r>
                  <a:rPr lang="ko-KR" altLang="en-US" sz="2000" b="1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 </a:t>
                </a:r>
                <a:r>
                  <a:rPr lang="en-US" altLang="ko-KR" sz="2000" b="1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8</a:t>
                </a:r>
                <a:r>
                  <a:rPr lang="ko-KR" altLang="en-US" sz="2000" b="1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개</a:t>
                </a:r>
                <a:r>
                  <a:rPr lang="ko-KR" altLang="en-US" sz="2000" b="1" i="0" u="none" strike="noStrike" dirty="0">
                    <a:solidFill>
                      <a:srgbClr val="000000"/>
                    </a:solidFill>
                    <a:latin typeface="Gmarket Sans Light" panose="020B0600000101010101" charset="-127"/>
                    <a:ea typeface="Gmarket Sans Light" panose="020B0600000101010101" charset="-127"/>
                    <a:cs typeface="Gmarket Sans Light"/>
                  </a:rPr>
                  <a:t>가 </a:t>
                </a:r>
                <a:r>
                  <a:rPr lang="ko-KR" altLang="en-US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순환합니다</a:t>
                </a:r>
                <a:r>
                  <a:rPr lang="en-US" altLang="ko-KR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.</a:t>
                </a:r>
              </a:p>
              <a:p>
                <a:pPr lvl="0" algn="ctr">
                  <a:lnSpc>
                    <a:spcPct val="99600"/>
                  </a:lnSpc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게시글과 버튼을 누르면 커뮤니티 게시판과 연결됩니다</a:t>
                </a:r>
                <a:r>
                  <a:rPr lang="en-US" altLang="ko-KR" sz="2000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.</a:t>
                </a:r>
                <a:endParaRPr 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56897B-6D75-4951-BFC9-E60CA1E1CC87}"/>
              </a:ext>
            </a:extLst>
          </p:cNvPr>
          <p:cNvGrpSpPr/>
          <p:nvPr/>
        </p:nvGrpSpPr>
        <p:grpSpPr>
          <a:xfrm>
            <a:off x="17482195" y="2733865"/>
            <a:ext cx="6504477" cy="8494555"/>
            <a:chOff x="17482195" y="2733865"/>
            <a:chExt cx="6504477" cy="8494555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16140000">
              <a:off x="18018343" y="9452906"/>
              <a:ext cx="2433909" cy="111711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681286" y="9139397"/>
              <a:ext cx="6227109" cy="13598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482195" y="8715680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34" name="TextBox 34"/>
            <p:cNvSpPr txBox="1"/>
            <p:nvPr/>
          </p:nvSpPr>
          <p:spPr>
            <a:xfrm>
              <a:off x="17659164" y="8873342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지금 주목받는 부산 </a:t>
              </a: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축제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145830" y="9641945"/>
              <a:ext cx="5286960" cy="610941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json 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파일을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바탕으로 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오늘 기준</a:t>
              </a:r>
              <a:endParaRPr lang="en-US" altLang="ko-KR" sz="2000" b="1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cs typeface="Gmarket Sans Light"/>
              </a:endParaRPr>
            </a:p>
            <a:p>
              <a:pPr lvl="0" algn="ctr">
                <a:lnSpc>
                  <a:spcPct val="99600"/>
                </a:lnSpc>
              </a:pP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한 달 내 축제가 무작위 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2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개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순환합니다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  <a:endParaRPr lang="en-US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16140000">
              <a:off x="17697586" y="3756854"/>
              <a:ext cx="2433909" cy="111711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156892" y="3157582"/>
              <a:ext cx="5829780" cy="13598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957800" y="2733865"/>
              <a:ext cx="5674080" cy="719334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36" name="TextBox 36"/>
            <p:cNvSpPr txBox="1"/>
            <p:nvPr/>
          </p:nvSpPr>
          <p:spPr>
            <a:xfrm>
              <a:off x="18134769" y="2901381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부산 캐릭터 부기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26841" y="3717938"/>
              <a:ext cx="5286960" cy="610941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부산 토박이가 알려주는 축제 정보</a:t>
              </a:r>
              <a:r>
                <a:rPr lang="en-US" altLang="ko-KR" sz="22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!</a:t>
              </a:r>
              <a:endParaRPr lang="en-US" sz="22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4</a:t>
            </a:r>
            <a:endParaRPr lang="en-US" sz="20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264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BBD211AA-47B1-4A16-A9E5-583F2E8C8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869847"/>
            <a:ext cx="15472631" cy="1197630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5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F8AC88B-686C-4AC5-A246-6711AC218DB5}"/>
              </a:ext>
            </a:extLst>
          </p:cNvPr>
          <p:cNvGrpSpPr/>
          <p:nvPr/>
        </p:nvGrpSpPr>
        <p:grpSpPr>
          <a:xfrm>
            <a:off x="2895600" y="4648200"/>
            <a:ext cx="7610586" cy="9067800"/>
            <a:chOff x="2905014" y="6465995"/>
            <a:chExt cx="7610586" cy="9067800"/>
          </a:xfrm>
        </p:grpSpPr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7B53435C-BB7B-4211-A435-B4999568A988}"/>
                </a:ext>
              </a:extLst>
            </p:cNvPr>
            <p:cNvSpPr/>
            <p:nvPr/>
          </p:nvSpPr>
          <p:spPr>
            <a:xfrm>
              <a:off x="2905014" y="6465995"/>
              <a:ext cx="7610586" cy="1535005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AD78140-D4C1-46E1-A98C-D61BD71E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5014" y="8001000"/>
              <a:ext cx="7610586" cy="7532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5884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6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8B7D36A-A150-4625-BABC-2A8018F09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663" y="1625805"/>
            <a:ext cx="11493226" cy="11375749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CBAE1F11-E2D7-4609-B6B0-7DE219C26B41}"/>
              </a:ext>
            </a:extLst>
          </p:cNvPr>
          <p:cNvGrpSpPr/>
          <p:nvPr/>
        </p:nvGrpSpPr>
        <p:grpSpPr>
          <a:xfrm>
            <a:off x="2242570" y="3853194"/>
            <a:ext cx="6652184" cy="2588085"/>
            <a:chOff x="1707818" y="3886908"/>
            <a:chExt cx="6652184" cy="2588085"/>
          </a:xfrm>
        </p:grpSpPr>
        <p:pic>
          <p:nvPicPr>
            <p:cNvPr id="42" name="Picture 17">
              <a:extLst>
                <a:ext uri="{FF2B5EF4-FFF2-40B4-BE49-F238E27FC236}">
                  <a16:creationId xmlns:a16="http://schemas.microsoft.com/office/drawing/2014/main" id="{61D46F5E-29CF-48B4-AA74-BE2A67D71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6889758" y="5004748"/>
              <a:ext cx="1823370" cy="1117119"/>
            </a:xfrm>
            <a:prstGeom prst="rect">
              <a:avLst/>
            </a:prstGeom>
          </p:spPr>
        </p:pic>
        <p:pic>
          <p:nvPicPr>
            <p:cNvPr id="43" name="Picture 19">
              <a:extLst>
                <a:ext uri="{FF2B5EF4-FFF2-40B4-BE49-F238E27FC236}">
                  <a16:creationId xmlns:a16="http://schemas.microsoft.com/office/drawing/2014/main" id="{F56DC38D-557F-4519-B4F7-87A3E90F3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6910" y="4310624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20">
              <a:extLst>
                <a:ext uri="{FF2B5EF4-FFF2-40B4-BE49-F238E27FC236}">
                  <a16:creationId xmlns:a16="http://schemas.microsoft.com/office/drawing/2014/main" id="{16639B58-B507-4F22-9275-56DDA390B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07818" y="3886908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45" name="TextBox 30">
              <a:extLst>
                <a:ext uri="{FF2B5EF4-FFF2-40B4-BE49-F238E27FC236}">
                  <a16:creationId xmlns:a16="http://schemas.microsoft.com/office/drawing/2014/main" id="{4616B432-2AD3-4201-B459-B76EB3D9BFA3}"/>
                </a:ext>
              </a:extLst>
            </p:cNvPr>
            <p:cNvSpPr txBox="1"/>
            <p:nvPr/>
          </p:nvSpPr>
          <p:spPr>
            <a:xfrm>
              <a:off x="1895848" y="4054424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홈 화면의 대표 질문 세 가지</a:t>
              </a:r>
              <a:endParaRPr lang="en-US" sz="2200" b="0" i="0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46" name="TextBox 31">
              <a:extLst>
                <a:ext uri="{FF2B5EF4-FFF2-40B4-BE49-F238E27FC236}">
                  <a16:creationId xmlns:a16="http://schemas.microsoft.com/office/drawing/2014/main" id="{3C6587F1-2B77-434C-A349-3C826BE6A820}"/>
                </a:ext>
              </a:extLst>
            </p:cNvPr>
            <p:cNvSpPr txBox="1"/>
            <p:nvPr/>
          </p:nvSpPr>
          <p:spPr>
            <a:xfrm>
              <a:off x="2188572" y="4952368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1. </a:t>
              </a: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부산 </a:t>
              </a:r>
              <a:r>
                <a:rPr lang="ko-KR" altLang="en-US" sz="2000" b="0" i="0" strike="noStrike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락</a:t>
              </a: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페스티벌 숙소 추천해 줘</a:t>
              </a: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</a:p>
            <a:p>
              <a:pPr lvl="0" algn="ctr">
                <a:lnSpc>
                  <a:spcPct val="99600"/>
                </a:lnSpc>
              </a:pP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2. 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올해 여름 축제 일정 알려줘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</a:p>
            <a:p>
              <a:pPr lvl="0" algn="ctr">
                <a:lnSpc>
                  <a:spcPct val="99600"/>
                </a:lnSpc>
              </a:pP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3. </a:t>
              </a: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광안리 놀러 갈 때 보러 갈 축제 추천해줘</a:t>
              </a: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  <a:endParaRPr lang="en-US" sz="2000" b="0" i="0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DE8AFE6-6AD3-428D-8BA5-5F5C9A6DB4F4}"/>
              </a:ext>
            </a:extLst>
          </p:cNvPr>
          <p:cNvGrpSpPr/>
          <p:nvPr/>
        </p:nvGrpSpPr>
        <p:grpSpPr>
          <a:xfrm>
            <a:off x="14213789" y="7313679"/>
            <a:ext cx="6426200" cy="2512740"/>
            <a:chOff x="17482195" y="8715680"/>
            <a:chExt cx="6426200" cy="2512740"/>
          </a:xfrm>
        </p:grpSpPr>
        <p:pic>
          <p:nvPicPr>
            <p:cNvPr id="56" name="Picture 11">
              <a:extLst>
                <a:ext uri="{FF2B5EF4-FFF2-40B4-BE49-F238E27FC236}">
                  <a16:creationId xmlns:a16="http://schemas.microsoft.com/office/drawing/2014/main" id="{020B4BBD-AC47-4743-A2EB-89D17D535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140000">
              <a:off x="18018343" y="9452906"/>
              <a:ext cx="2433909" cy="1117119"/>
            </a:xfrm>
            <a:prstGeom prst="rect">
              <a:avLst/>
            </a:prstGeom>
          </p:spPr>
        </p:pic>
        <p:pic>
          <p:nvPicPr>
            <p:cNvPr id="57" name="Picture 23">
              <a:extLst>
                <a:ext uri="{FF2B5EF4-FFF2-40B4-BE49-F238E27FC236}">
                  <a16:creationId xmlns:a16="http://schemas.microsoft.com/office/drawing/2014/main" id="{09E229B5-4459-49F4-995A-F6E69DAE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681286" y="9139397"/>
              <a:ext cx="6227109" cy="13598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8" name="Picture 24">
              <a:extLst>
                <a:ext uri="{FF2B5EF4-FFF2-40B4-BE49-F238E27FC236}">
                  <a16:creationId xmlns:a16="http://schemas.microsoft.com/office/drawing/2014/main" id="{D7EAD432-4C87-4C54-8BDA-B816FA50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82195" y="8715680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59" name="TextBox 34">
              <a:extLst>
                <a:ext uri="{FF2B5EF4-FFF2-40B4-BE49-F238E27FC236}">
                  <a16:creationId xmlns:a16="http://schemas.microsoft.com/office/drawing/2014/main" id="{269F9CF9-372E-4A27-9F34-35BED91E5C11}"/>
                </a:ext>
              </a:extLst>
            </p:cNvPr>
            <p:cNvSpPr txBox="1"/>
            <p:nvPr/>
          </p:nvSpPr>
          <p:spPr>
            <a:xfrm>
              <a:off x="17659164" y="8873342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u="none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챗봇</a:t>
              </a:r>
              <a:r>
                <a:rPr lang="ko-KR" alt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 대표 질문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60" name="TextBox 35">
              <a:extLst>
                <a:ext uri="{FF2B5EF4-FFF2-40B4-BE49-F238E27FC236}">
                  <a16:creationId xmlns:a16="http://schemas.microsoft.com/office/drawing/2014/main" id="{C52398B6-FCC8-4D38-850A-CC006D88C27F}"/>
                </a:ext>
              </a:extLst>
            </p:cNvPr>
            <p:cNvSpPr txBox="1"/>
            <p:nvPr/>
          </p:nvSpPr>
          <p:spPr>
            <a:xfrm>
              <a:off x="18145830" y="9641945"/>
              <a:ext cx="5286960" cy="610941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키워드를 누르면 간단한 질문을 물어볼 수 있습니다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 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(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축제 정보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&amp;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숙박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 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중심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)</a:t>
              </a:r>
              <a:endParaRPr lang="en-US" sz="20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cs typeface="Gmarket Sans Light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1A8F8F6-F7EB-4850-83A8-BB04B3996FF1}"/>
              </a:ext>
            </a:extLst>
          </p:cNvPr>
          <p:cNvGrpSpPr/>
          <p:nvPr/>
        </p:nvGrpSpPr>
        <p:grpSpPr>
          <a:xfrm>
            <a:off x="2627158" y="8850885"/>
            <a:ext cx="6652184" cy="2588085"/>
            <a:chOff x="1707818" y="3886908"/>
            <a:chExt cx="6652184" cy="2588085"/>
          </a:xfrm>
        </p:grpSpPr>
        <p:pic>
          <p:nvPicPr>
            <p:cNvPr id="68" name="Picture 17">
              <a:extLst>
                <a:ext uri="{FF2B5EF4-FFF2-40B4-BE49-F238E27FC236}">
                  <a16:creationId xmlns:a16="http://schemas.microsoft.com/office/drawing/2014/main" id="{DF1CDABE-26EA-4A30-AD65-D0374FEDD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6889758" y="5004748"/>
              <a:ext cx="1823370" cy="1117119"/>
            </a:xfrm>
            <a:prstGeom prst="rect">
              <a:avLst/>
            </a:prstGeom>
          </p:spPr>
        </p:pic>
        <p:pic>
          <p:nvPicPr>
            <p:cNvPr id="69" name="Picture 19">
              <a:extLst>
                <a:ext uri="{FF2B5EF4-FFF2-40B4-BE49-F238E27FC236}">
                  <a16:creationId xmlns:a16="http://schemas.microsoft.com/office/drawing/2014/main" id="{50D7C9FB-B7C2-4821-A4D4-BAD5B9504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6910" y="4310624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0" name="Picture 20">
              <a:extLst>
                <a:ext uri="{FF2B5EF4-FFF2-40B4-BE49-F238E27FC236}">
                  <a16:creationId xmlns:a16="http://schemas.microsoft.com/office/drawing/2014/main" id="{522069A7-1FB2-4D06-8345-261BDC431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07818" y="3886908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5AE2ED6D-9987-4161-A623-4330BBD7EF42}"/>
                </a:ext>
              </a:extLst>
            </p:cNvPr>
            <p:cNvSpPr txBox="1"/>
            <p:nvPr/>
          </p:nvSpPr>
          <p:spPr>
            <a:xfrm>
              <a:off x="1895848" y="4054424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나만의 질문 물어보기</a:t>
              </a:r>
              <a:endParaRPr lang="en-US" sz="2200" b="0" i="0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F084FCCF-FA27-4D43-8E38-70C9F4AB9080}"/>
                </a:ext>
              </a:extLst>
            </p:cNvPr>
            <p:cNvSpPr txBox="1"/>
            <p:nvPr/>
          </p:nvSpPr>
          <p:spPr>
            <a:xfrm>
              <a:off x="2188572" y="4952368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대표 질문</a:t>
              </a: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, </a:t>
              </a:r>
              <a:r>
                <a:rPr lang="ko-KR" altLang="en-US" sz="2000" b="0" i="0" strike="noStrike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챗봇</a:t>
              </a: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대표 질문 외의 궁금한 점은</a:t>
              </a:r>
              <a:endParaRPr lang="en-US" altLang="ko-KR" sz="2000" b="0" i="0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sz="2000" b="1" i="0" strike="noStrike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Open AI 5.0 mini</a:t>
              </a:r>
              <a:r>
                <a:rPr lang="ko-KR" altLang="en-US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가 대답합니다</a:t>
              </a:r>
              <a:r>
                <a:rPr lang="en-US" altLang="ko-KR" sz="2000" b="0" i="0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  <a:endParaRPr lang="en-US" sz="2000" b="0" i="0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887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7BB65071-62D2-4250-A4D2-358143FE2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557" y="3197235"/>
            <a:ext cx="13079954" cy="989432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033C70-1FEC-4F79-A8B3-1726DAFDE737}"/>
              </a:ext>
            </a:extLst>
          </p:cNvPr>
          <p:cNvGrpSpPr/>
          <p:nvPr/>
        </p:nvGrpSpPr>
        <p:grpSpPr>
          <a:xfrm>
            <a:off x="504977" y="2071301"/>
            <a:ext cx="6028872" cy="2415591"/>
            <a:chOff x="524329" y="2750814"/>
            <a:chExt cx="6028872" cy="2415591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5000318" y="3696160"/>
              <a:ext cx="1823370" cy="111711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421" y="3174530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4329" y="2750814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30" name="TextBox 30"/>
            <p:cNvSpPr txBox="1"/>
            <p:nvPr/>
          </p:nvSpPr>
          <p:spPr>
            <a:xfrm>
              <a:off x="712359" y="2918330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오늘의 </a:t>
              </a:r>
              <a:r>
                <a:rPr lang="ko-KR" altLang="en-US" sz="2200" b="0" i="0" u="none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인기글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4831" y="3808097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추천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/</a:t>
              </a:r>
              <a:r>
                <a:rPr lang="ko-KR" altLang="en-US" sz="20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비추천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개수를 기준으로</a:t>
              </a:r>
              <a:b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</a:b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오늘의 </a:t>
              </a:r>
              <a:r>
                <a:rPr lang="ko-KR" altLang="en-US" sz="2000" b="1" dirty="0" err="1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인기글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 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8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개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가 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5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초 단위로 순환합니다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.</a:t>
              </a:r>
              <a:endParaRPr lang="en-US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7659164" y="8873342"/>
            <a:ext cx="5309081" cy="443425"/>
          </a:xfrm>
          <a:prstGeom prst="rect">
            <a:avLst/>
          </a:prstGeom>
        </p:spPr>
        <p:txBody>
          <a:bodyPr lIns="0" tIns="41255" rIns="0" bIns="41255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rPr>
              <a:t>지금 주목받는 부산 </a:t>
            </a:r>
            <a:r>
              <a:rPr lang="ko-KR" altLang="en-US" sz="2200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rPr>
              <a:t>축제</a:t>
            </a:r>
            <a:endParaRPr lang="en-US" sz="2200" b="0" i="0" u="none" strike="noStrike" dirty="0">
              <a:solidFill>
                <a:srgbClr val="FFFFFF"/>
              </a:solidFill>
              <a:latin typeface="Gmarket Sans Bold"/>
              <a:ea typeface="Gmarket Sans Bold"/>
              <a:cs typeface="Gmarket Sans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F922AA1-5A73-443A-B4AD-B6421768B5BA}"/>
              </a:ext>
            </a:extLst>
          </p:cNvPr>
          <p:cNvGrpSpPr/>
          <p:nvPr/>
        </p:nvGrpSpPr>
        <p:grpSpPr>
          <a:xfrm>
            <a:off x="17957800" y="2733865"/>
            <a:ext cx="6028872" cy="2798503"/>
            <a:chOff x="17957800" y="2733865"/>
            <a:chExt cx="6028872" cy="279850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140000">
              <a:off x="17697586" y="3756854"/>
              <a:ext cx="2433909" cy="111711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156892" y="3157582"/>
              <a:ext cx="5829780" cy="1842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957800" y="2733865"/>
              <a:ext cx="5674080" cy="719334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36" name="TextBox 36"/>
            <p:cNvSpPr txBox="1"/>
            <p:nvPr/>
          </p:nvSpPr>
          <p:spPr>
            <a:xfrm>
              <a:off x="18134769" y="2901381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u="none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인기글</a:t>
              </a:r>
              <a:r>
                <a:rPr lang="en-US" altLang="ko-KR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/</a:t>
              </a:r>
              <a:r>
                <a:rPr lang="ko-KR" altLang="en-US" sz="2200" b="0" i="0" u="none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분리수거글</a:t>
              </a:r>
              <a:r>
                <a:rPr lang="en-US" altLang="ko-KR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/</a:t>
              </a:r>
              <a:r>
                <a:rPr lang="ko-KR" alt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북마크 기준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26841" y="3961059"/>
              <a:ext cx="5286960" cy="610941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0" i="0" u="none" strike="noStrike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인기글</a:t>
              </a:r>
              <a:r>
                <a:rPr lang="en-US" altLang="ko-KR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: </a:t>
              </a:r>
              <a:r>
                <a:rPr lang="ko-KR" alt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추천 </a:t>
              </a:r>
              <a:r>
                <a:rPr lang="en-US" altLang="ko-KR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10</a:t>
              </a:r>
              <a:r>
                <a:rPr lang="ko-KR" alt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개</a:t>
              </a:r>
              <a:endParaRPr lang="en-US" altLang="ko-KR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  <a:p>
              <a:pPr lvl="0" algn="ctr">
                <a:lnSpc>
                  <a:spcPct val="99600"/>
                </a:lnSpc>
              </a:pPr>
              <a:r>
                <a:rPr lang="ko-KR" altLang="en-US" sz="19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분리수거글</a:t>
              </a:r>
              <a:r>
                <a:rPr lang="en-US" altLang="ko-KR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: </a:t>
              </a:r>
              <a:r>
                <a:rPr lang="ko-KR" altLang="en-US" sz="19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비추</a:t>
              </a:r>
              <a:r>
                <a:rPr lang="ko-KR" altLang="en-US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</a:t>
              </a:r>
              <a:r>
                <a:rPr lang="en-US" altLang="ko-KR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10</a:t>
              </a:r>
              <a:r>
                <a:rPr lang="ko-KR" altLang="en-US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개 이상 </a:t>
              </a:r>
              <a:r>
                <a:rPr lang="en-US" altLang="ko-KR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+ </a:t>
              </a:r>
              <a:r>
                <a:rPr lang="ko-KR" altLang="en-US" sz="19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비추</a:t>
              </a:r>
              <a:r>
                <a:rPr lang="ko-KR" altLang="en-US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수</a:t>
              </a:r>
              <a:r>
                <a:rPr lang="en-US" altLang="ko-KR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&gt;=</a:t>
              </a:r>
              <a:r>
                <a:rPr lang="ko-KR" altLang="en-US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추천 수</a:t>
              </a:r>
              <a:r>
                <a:rPr lang="en-US" altLang="ko-KR" sz="19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+5</a:t>
              </a:r>
            </a:p>
            <a:p>
              <a:pPr lvl="0" algn="ctr">
                <a:lnSpc>
                  <a:spcPct val="99600"/>
                </a:lnSpc>
              </a:pPr>
              <a:r>
                <a:rPr lang="ko-KR" alt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북마크</a:t>
              </a:r>
              <a:r>
                <a:rPr lang="en-US" altLang="ko-KR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: </a:t>
              </a:r>
              <a:r>
                <a:rPr lang="ko-KR" alt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본인이 북마크한 글</a:t>
              </a:r>
              <a:endParaRPr lang="en-US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7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0AFCFA4-E1B8-40B1-88BD-716A3179B762}"/>
              </a:ext>
            </a:extLst>
          </p:cNvPr>
          <p:cNvGrpSpPr/>
          <p:nvPr/>
        </p:nvGrpSpPr>
        <p:grpSpPr>
          <a:xfrm>
            <a:off x="942422" y="8720033"/>
            <a:ext cx="7233311" cy="1793407"/>
            <a:chOff x="450680" y="7768723"/>
            <a:chExt cx="7233311" cy="179340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50082" y="8028698"/>
              <a:ext cx="2433909" cy="1117119"/>
            </a:xfrm>
            <a:prstGeom prst="rect">
              <a:avLst/>
            </a:prstGeom>
          </p:spPr>
        </p:pic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58133C2-27BB-46FC-AFCA-673231FD81F9}"/>
                </a:ext>
              </a:extLst>
            </p:cNvPr>
            <p:cNvGrpSpPr/>
            <p:nvPr/>
          </p:nvGrpSpPr>
          <p:grpSpPr>
            <a:xfrm>
              <a:off x="450680" y="7768723"/>
              <a:ext cx="6426200" cy="1793407"/>
              <a:chOff x="1143000" y="8331200"/>
              <a:chExt cx="7378700" cy="23114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1" name="Picture 21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1601" y="8890000"/>
                <a:ext cx="7150099" cy="1752600"/>
              </a:xfrm>
              <a:prstGeom prst="rect">
                <a:avLst/>
              </a:prstGeom>
              <a:effectLst>
                <a:outerShdw blurRad="69946" dist="67256" dir="270000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2" name="Picture 2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3000" y="8331200"/>
                <a:ext cx="6515100" cy="927100"/>
              </a:xfrm>
              <a:prstGeom prst="rect">
                <a:avLst/>
              </a:prstGeom>
              <a:effectLst>
                <a:outerShdw blurRad="36959" dist="106612" dir="270000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32" name="TextBox 32"/>
              <p:cNvSpPr txBox="1"/>
              <p:nvPr/>
            </p:nvSpPr>
            <p:spPr>
              <a:xfrm>
                <a:off x="1358900" y="8547100"/>
                <a:ext cx="6096000" cy="571500"/>
              </a:xfrm>
              <a:prstGeom prst="rect">
                <a:avLst/>
              </a:prstGeom>
            </p:spPr>
            <p:txBody>
              <a:bodyPr lIns="0" tIns="41255" rIns="0" bIns="41255" rtlCol="0" anchor="ctr"/>
              <a:lstStyle/>
              <a:p>
                <a:pPr lvl="0" algn="ctr">
                  <a:lnSpc>
                    <a:spcPct val="99600"/>
                  </a:lnSpc>
                </a:pPr>
                <a:endParaRPr 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09010" y="9610928"/>
                <a:ext cx="6070600" cy="787400"/>
              </a:xfrm>
              <a:prstGeom prst="rect">
                <a:avLst/>
              </a:prstGeom>
            </p:spPr>
            <p:txBody>
              <a:bodyPr lIns="0" tIns="30479" rIns="0" bIns="30479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ko-KR" altLang="en-US" sz="2000" b="1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전체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/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숙박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/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물건 찾기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/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Gmarket Sans Medium" panose="020B0600000101010101" charset="-127"/>
                    <a:ea typeface="Gmarket Sans Medium" panose="020B0600000101010101" charset="-127"/>
                    <a:cs typeface="Gmarket Sans Light"/>
                  </a:rPr>
                  <a:t>자유게시판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Gmarket Sans Light" panose="020B0600000101010101" charset="-127"/>
                    <a:ea typeface="Gmarket Sans Light" panose="020B0600000101010101" charset="-127"/>
                    <a:cs typeface="Gmarket Sans Light"/>
                  </a:rPr>
                  <a:t>을</a:t>
                </a:r>
                <a:r>
                  <a:rPr lang="ko-KR" altLang="en-US" sz="2000" dirty="0">
                    <a:solidFill>
                      <a:srgbClr val="000000"/>
                    </a:solidFill>
                    <a:latin typeface="Gmarket Sans Light" panose="020B0600000101010101" charset="-127"/>
                    <a:ea typeface="Gmarket Sans Light" panose="020B0600000101010101" charset="-127"/>
                    <a:cs typeface="Gmarket Sans Light"/>
                  </a:rPr>
                  <a:t> </a:t>
                </a:r>
                <a:r>
                  <a:rPr lang="ko-KR" altLang="en-US" sz="2000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기준으로</a:t>
                </a:r>
                <a:endPara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endParaRPr>
              </a:p>
              <a:p>
                <a:pPr lvl="0" algn="ctr">
                  <a:lnSpc>
                    <a:spcPct val="99600"/>
                  </a:lnSpc>
                </a:pPr>
                <a:r>
                  <a:rPr lang="ko-KR" altLang="en-US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분류된 글을 확인할 수 있습니다</a:t>
                </a:r>
                <a:r>
                  <a:rPr lang="en-US" altLang="ko-KR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.</a:t>
                </a:r>
                <a:endParaRPr 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endParaRPr>
              </a:p>
            </p:txBody>
          </p:sp>
        </p:grpSp>
        <p:sp>
          <p:nvSpPr>
            <p:cNvPr id="42" name="TextBox 30">
              <a:extLst>
                <a:ext uri="{FF2B5EF4-FFF2-40B4-BE49-F238E27FC236}">
                  <a16:creationId xmlns:a16="http://schemas.microsoft.com/office/drawing/2014/main" id="{D90E9303-9CDE-4FA8-8E2F-7376459EB229}"/>
                </a:ext>
              </a:extLst>
            </p:cNvPr>
            <p:cNvSpPr txBox="1"/>
            <p:nvPr/>
          </p:nvSpPr>
          <p:spPr>
            <a:xfrm>
              <a:off x="649771" y="7922683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게시판 구분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720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7BB65071-62D2-4250-A4D2-358143FE2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31080"/>
            <a:ext cx="13079954" cy="989432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8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FC44684-7A46-41DB-815A-BB77CA0187BE}"/>
              </a:ext>
            </a:extLst>
          </p:cNvPr>
          <p:cNvGrpSpPr/>
          <p:nvPr/>
        </p:nvGrpSpPr>
        <p:grpSpPr>
          <a:xfrm>
            <a:off x="2362200" y="3906524"/>
            <a:ext cx="8179425" cy="7120090"/>
            <a:chOff x="5562600" y="4288125"/>
            <a:chExt cx="8179425" cy="7120090"/>
          </a:xfrm>
        </p:grpSpPr>
        <p:pic>
          <p:nvPicPr>
            <p:cNvPr id="45" name="Picture 17">
              <a:extLst>
                <a:ext uri="{FF2B5EF4-FFF2-40B4-BE49-F238E27FC236}">
                  <a16:creationId xmlns:a16="http://schemas.microsoft.com/office/drawing/2014/main" id="{578C302F-7367-4941-89F9-89D9BE4E0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10763887" y="9913952"/>
              <a:ext cx="1823370" cy="1165156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BB18CBC6-6EF5-4B77-AC20-31FECBE10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2600" y="4288125"/>
              <a:ext cx="8179425" cy="6540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740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9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B18CBC6-6EF5-4B77-AC20-31FECBE10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900" y="2667000"/>
            <a:ext cx="12268200" cy="981062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2DEA3C-1E54-4724-829A-523FA0A9125E}"/>
              </a:ext>
            </a:extLst>
          </p:cNvPr>
          <p:cNvGrpSpPr/>
          <p:nvPr/>
        </p:nvGrpSpPr>
        <p:grpSpPr>
          <a:xfrm>
            <a:off x="2286000" y="5464390"/>
            <a:ext cx="6028872" cy="2415591"/>
            <a:chOff x="524329" y="2750814"/>
            <a:chExt cx="6028872" cy="2415591"/>
          </a:xfrm>
        </p:grpSpPr>
        <p:pic>
          <p:nvPicPr>
            <p:cNvPr id="12" name="Picture 17">
              <a:extLst>
                <a:ext uri="{FF2B5EF4-FFF2-40B4-BE49-F238E27FC236}">
                  <a16:creationId xmlns:a16="http://schemas.microsoft.com/office/drawing/2014/main" id="{BE24CCF0-8C05-4AEE-9300-3029CEC10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5000318" y="3696160"/>
              <a:ext cx="1823370" cy="1117119"/>
            </a:xfrm>
            <a:prstGeom prst="rect">
              <a:avLst/>
            </a:prstGeom>
          </p:spPr>
        </p:pic>
        <p:pic>
          <p:nvPicPr>
            <p:cNvPr id="13" name="Picture 19">
              <a:extLst>
                <a:ext uri="{FF2B5EF4-FFF2-40B4-BE49-F238E27FC236}">
                  <a16:creationId xmlns:a16="http://schemas.microsoft.com/office/drawing/2014/main" id="{1321A23D-A1E3-44B6-B4F3-21EAB6D06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421" y="3174530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Picture 20">
              <a:extLst>
                <a:ext uri="{FF2B5EF4-FFF2-40B4-BE49-F238E27FC236}">
                  <a16:creationId xmlns:a16="http://schemas.microsoft.com/office/drawing/2014/main" id="{C1BDB42C-65F5-49FC-926A-DC00E9845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4329" y="2750814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18" name="TextBox 30">
              <a:extLst>
                <a:ext uri="{FF2B5EF4-FFF2-40B4-BE49-F238E27FC236}">
                  <a16:creationId xmlns:a16="http://schemas.microsoft.com/office/drawing/2014/main" id="{8D94E951-A9A4-458C-8469-4688BC09CF78}"/>
                </a:ext>
              </a:extLst>
            </p:cNvPr>
            <p:cNvSpPr txBox="1"/>
            <p:nvPr/>
          </p:nvSpPr>
          <p:spPr>
            <a:xfrm>
              <a:off x="712359" y="2918330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태그 설정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19" name="TextBox 31">
              <a:extLst>
                <a:ext uri="{FF2B5EF4-FFF2-40B4-BE49-F238E27FC236}">
                  <a16:creationId xmlns:a16="http://schemas.microsoft.com/office/drawing/2014/main" id="{7B1DAF53-F9E1-4C1E-885A-EEA4D7B590D0}"/>
                </a:ext>
              </a:extLst>
            </p:cNvPr>
            <p:cNvSpPr txBox="1"/>
            <p:nvPr/>
          </p:nvSpPr>
          <p:spPr>
            <a:xfrm>
              <a:off x="994831" y="3808097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전체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/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숙박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/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물건 찾기</a:t>
              </a:r>
              <a:r>
                <a:rPr lang="en-US" altLang="ko-KR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/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자유게시판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을 치면</a:t>
              </a:r>
              <a:endParaRPr lang="en-US" altLang="ko-KR" sz="2000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  <a:p>
              <a:pPr lvl="0" algn="ctr">
                <a:lnSpc>
                  <a:spcPct val="99600"/>
                </a:lnSpc>
              </a:pPr>
              <a:r>
                <a:rPr lang="ko-KR" altLang="en-US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태그가 자동으로 다중 설정됩니다</a:t>
              </a:r>
              <a:endParaRPr lang="en-US" sz="2000" b="0" i="0" u="none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25ADDF0-A089-453F-8E78-EF99A7530D35}"/>
              </a:ext>
            </a:extLst>
          </p:cNvPr>
          <p:cNvGrpSpPr/>
          <p:nvPr/>
        </p:nvGrpSpPr>
        <p:grpSpPr>
          <a:xfrm>
            <a:off x="942422" y="8720033"/>
            <a:ext cx="7233311" cy="1793407"/>
            <a:chOff x="450680" y="7768723"/>
            <a:chExt cx="7233311" cy="1793407"/>
          </a:xfrm>
        </p:grpSpPr>
        <p:pic>
          <p:nvPicPr>
            <p:cNvPr id="28" name="Picture 13">
              <a:extLst>
                <a:ext uri="{FF2B5EF4-FFF2-40B4-BE49-F238E27FC236}">
                  <a16:creationId xmlns:a16="http://schemas.microsoft.com/office/drawing/2014/main" id="{19A66E52-9343-425A-A7DE-01A203695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50082" y="8028698"/>
              <a:ext cx="2433909" cy="1117119"/>
            </a:xfrm>
            <a:prstGeom prst="rect">
              <a:avLst/>
            </a:prstGeom>
          </p:spPr>
        </p:pic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D7217BE-ECBF-44C2-9BC5-174FB8B1B79A}"/>
                </a:ext>
              </a:extLst>
            </p:cNvPr>
            <p:cNvGrpSpPr/>
            <p:nvPr/>
          </p:nvGrpSpPr>
          <p:grpSpPr>
            <a:xfrm>
              <a:off x="450680" y="7768723"/>
              <a:ext cx="6426200" cy="1793407"/>
              <a:chOff x="1143000" y="8331200"/>
              <a:chExt cx="7378700" cy="23114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1" name="Picture 21">
                <a:extLst>
                  <a:ext uri="{FF2B5EF4-FFF2-40B4-BE49-F238E27FC236}">
                    <a16:creationId xmlns:a16="http://schemas.microsoft.com/office/drawing/2014/main" id="{A520B31C-AE7A-43F1-AB51-FDBDCE12D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1601" y="8890000"/>
                <a:ext cx="7150099" cy="1752600"/>
              </a:xfrm>
              <a:prstGeom prst="rect">
                <a:avLst/>
              </a:prstGeom>
              <a:effectLst>
                <a:outerShdw blurRad="69946" dist="67256" dir="270000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32" name="Picture 22">
                <a:extLst>
                  <a:ext uri="{FF2B5EF4-FFF2-40B4-BE49-F238E27FC236}">
                    <a16:creationId xmlns:a16="http://schemas.microsoft.com/office/drawing/2014/main" id="{B31E82F6-F70E-4C6C-9479-D95C4DD54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3000" y="8331200"/>
                <a:ext cx="6515100" cy="927100"/>
              </a:xfrm>
              <a:prstGeom prst="rect">
                <a:avLst/>
              </a:prstGeom>
              <a:effectLst>
                <a:outerShdw blurRad="36959" dist="106612" dir="270000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F4B193-9100-4706-B821-B76F6D698281}"/>
                  </a:ext>
                </a:extLst>
              </p:cNvPr>
              <p:cNvSpPr txBox="1"/>
              <p:nvPr/>
            </p:nvSpPr>
            <p:spPr>
              <a:xfrm>
                <a:off x="1358900" y="8547100"/>
                <a:ext cx="6096000" cy="571500"/>
              </a:xfrm>
              <a:prstGeom prst="rect">
                <a:avLst/>
              </a:prstGeom>
            </p:spPr>
            <p:txBody>
              <a:bodyPr lIns="0" tIns="41255" rIns="0" bIns="41255" rtlCol="0" anchor="ctr"/>
              <a:lstStyle/>
              <a:p>
                <a:pPr lvl="0" algn="ctr">
                  <a:lnSpc>
                    <a:spcPct val="99600"/>
                  </a:lnSpc>
                </a:pPr>
                <a:endParaRPr lang="en-US" sz="2200" b="0" i="0" u="none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1CFB33-90BE-4AF2-8713-43E8229C1AE0}"/>
                  </a:ext>
                </a:extLst>
              </p:cNvPr>
              <p:cNvSpPr txBox="1"/>
              <p:nvPr/>
            </p:nvSpPr>
            <p:spPr>
              <a:xfrm>
                <a:off x="1709009" y="9610928"/>
                <a:ext cx="6503435" cy="787400"/>
              </a:xfrm>
              <a:prstGeom prst="rect">
                <a:avLst/>
              </a:prstGeom>
            </p:spPr>
            <p:txBody>
              <a:bodyPr lIns="0" tIns="30479" rIns="0" bIns="30479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ko-KR" altLang="en-US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글 수정</a:t>
                </a:r>
                <a:r>
                  <a:rPr lang="en-US" altLang="ko-KR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/</a:t>
                </a:r>
                <a:r>
                  <a:rPr lang="ko-KR" altLang="en-US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삭제 시 처음 설정한 비밀번호를</a:t>
                </a:r>
                <a:endParaRPr lang="en-US" altLang="ko-KR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endParaRPr>
              </a:p>
              <a:p>
                <a:pPr lvl="0" algn="ctr">
                  <a:lnSpc>
                    <a:spcPct val="99600"/>
                  </a:lnSpc>
                </a:pPr>
                <a:r>
                  <a:rPr lang="ko-KR" altLang="en-US" sz="2000" b="0" i="0" u="none" strike="noStrike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입력해야</a:t>
                </a:r>
                <a:r>
                  <a:rPr lang="en-US" altLang="ko-KR" sz="2000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 </a:t>
                </a:r>
                <a:r>
                  <a:rPr lang="ko-KR" altLang="en-US" sz="2000" dirty="0">
                    <a:solidFill>
                      <a:srgbClr val="000000"/>
                    </a:solidFill>
                    <a:latin typeface="Gmarket Sans Light"/>
                    <a:ea typeface="Gmarket Sans Light"/>
                    <a:cs typeface="Gmarket Sans Light"/>
                  </a:rPr>
                  <a:t>합니다</a:t>
                </a:r>
                <a:endParaRPr lang="en-US" altLang="ko-KR" sz="2000" b="0" i="0" u="none" strike="noStrike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endParaRPr>
              </a:p>
            </p:txBody>
          </p:sp>
        </p:grp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61326B7-0E4C-415F-B9AF-6A2BB966D853}"/>
                </a:ext>
              </a:extLst>
            </p:cNvPr>
            <p:cNvSpPr txBox="1"/>
            <p:nvPr/>
          </p:nvSpPr>
          <p:spPr>
            <a:xfrm>
              <a:off x="649771" y="7922683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비밀번호 설정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605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93084F-4771-40E3-B6B7-A412952E68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8" t="9740" r="23976" b="16843"/>
          <a:stretch/>
        </p:blipFill>
        <p:spPr>
          <a:xfrm>
            <a:off x="6415801" y="2824967"/>
            <a:ext cx="11488897" cy="911596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384300"/>
            <a:ext cx="9144000" cy="571500"/>
          </a:xfrm>
          <a:prstGeom prst="rect">
            <a:avLst/>
          </a:prstGeom>
        </p:spPr>
        <p:txBody>
          <a:bodyPr lIns="0" tIns="41255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248" b="0" i="0" u="none" strike="noStrike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홈 화면</a:t>
            </a:r>
            <a:endParaRPr lang="en-US" sz="3248" b="0" i="0" u="none" strike="noStrike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C3167E62-E71D-4B1E-8CDE-EA0E1990CD3E}"/>
              </a:ext>
            </a:extLst>
          </p:cNvPr>
          <p:cNvSpPr txBox="1"/>
          <p:nvPr/>
        </p:nvSpPr>
        <p:spPr>
          <a:xfrm>
            <a:off x="23926800" y="13106400"/>
            <a:ext cx="304800" cy="1524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10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BAE1F11-E2D7-4609-B6B0-7DE219C26B41}"/>
              </a:ext>
            </a:extLst>
          </p:cNvPr>
          <p:cNvGrpSpPr/>
          <p:nvPr/>
        </p:nvGrpSpPr>
        <p:grpSpPr>
          <a:xfrm>
            <a:off x="2415048" y="5373800"/>
            <a:ext cx="6652184" cy="2588085"/>
            <a:chOff x="1707818" y="3886908"/>
            <a:chExt cx="6652184" cy="2588085"/>
          </a:xfrm>
        </p:grpSpPr>
        <p:pic>
          <p:nvPicPr>
            <p:cNvPr id="42" name="Picture 17">
              <a:extLst>
                <a:ext uri="{FF2B5EF4-FFF2-40B4-BE49-F238E27FC236}">
                  <a16:creationId xmlns:a16="http://schemas.microsoft.com/office/drawing/2014/main" id="{61D46F5E-29CF-48B4-AA74-BE2A67D71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60000">
              <a:off x="6889758" y="5004748"/>
              <a:ext cx="1823370" cy="1117119"/>
            </a:xfrm>
            <a:prstGeom prst="rect">
              <a:avLst/>
            </a:prstGeom>
          </p:spPr>
        </p:pic>
        <p:pic>
          <p:nvPicPr>
            <p:cNvPr id="43" name="Picture 19">
              <a:extLst>
                <a:ext uri="{FF2B5EF4-FFF2-40B4-BE49-F238E27FC236}">
                  <a16:creationId xmlns:a16="http://schemas.microsoft.com/office/drawing/2014/main" id="{F56DC38D-557F-4519-B4F7-87A3E90F3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6910" y="4310624"/>
              <a:ext cx="5829780" cy="16296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20">
              <a:extLst>
                <a:ext uri="{FF2B5EF4-FFF2-40B4-BE49-F238E27FC236}">
                  <a16:creationId xmlns:a16="http://schemas.microsoft.com/office/drawing/2014/main" id="{16639B58-B507-4F22-9275-56DDA390B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07818" y="3886908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45" name="TextBox 30">
              <a:extLst>
                <a:ext uri="{FF2B5EF4-FFF2-40B4-BE49-F238E27FC236}">
                  <a16:creationId xmlns:a16="http://schemas.microsoft.com/office/drawing/2014/main" id="{4616B432-2AD3-4201-B459-B76EB3D9BFA3}"/>
                </a:ext>
              </a:extLst>
            </p:cNvPr>
            <p:cNvSpPr txBox="1"/>
            <p:nvPr/>
          </p:nvSpPr>
          <p:spPr>
            <a:xfrm>
              <a:off x="1895848" y="4054424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b="0" i="0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추천</a:t>
              </a:r>
              <a:r>
                <a:rPr lang="en-US" altLang="ko-KR" sz="2200" b="0" i="0" strike="noStrike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/</a:t>
              </a:r>
              <a:r>
                <a:rPr lang="ko-KR" altLang="en-US" sz="2200" b="0" i="0" strike="noStrike" dirty="0" err="1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비추천</a:t>
              </a:r>
              <a:endParaRPr lang="en-US" sz="2200" b="0" i="0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46" name="TextBox 31">
              <a:extLst>
                <a:ext uri="{FF2B5EF4-FFF2-40B4-BE49-F238E27FC236}">
                  <a16:creationId xmlns:a16="http://schemas.microsoft.com/office/drawing/2014/main" id="{3C6587F1-2B77-434C-A349-3C826BE6A820}"/>
                </a:ext>
              </a:extLst>
            </p:cNvPr>
            <p:cNvSpPr txBox="1"/>
            <p:nvPr/>
          </p:nvSpPr>
          <p:spPr>
            <a:xfrm>
              <a:off x="2188572" y="4952368"/>
              <a:ext cx="5286960" cy="610940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IP</a:t>
              </a:r>
              <a:r>
                <a:rPr lang="ko-KR" altLang="en-US" sz="2000" b="1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를 기준으로 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최초 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1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회 추천</a:t>
              </a:r>
              <a:r>
                <a:rPr lang="en-US" altLang="ko-KR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/</a:t>
              </a:r>
              <a:r>
                <a:rPr lang="ko-KR" altLang="en-US" sz="2000" dirty="0" err="1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비추천</a:t>
              </a:r>
              <a:r>
                <a:rPr lang="ko-KR" altLang="en-US" sz="2000" dirty="0">
                  <a:solidFill>
                    <a:srgbClr val="000000"/>
                  </a:solidFill>
                  <a:latin typeface="Gmarket Sans Light"/>
                  <a:ea typeface="Gmarket Sans Light"/>
                  <a:cs typeface="Gmarket Sans Light"/>
                </a:rPr>
                <a:t> 가능합니다</a:t>
              </a:r>
              <a:endParaRPr lang="en-US" sz="2000" b="0" i="0" strike="noStrike" dirty="0">
                <a:solidFill>
                  <a:srgbClr val="000000"/>
                </a:solidFill>
                <a:latin typeface="Gmarket Sans Light"/>
                <a:ea typeface="Gmarket Sans Light"/>
                <a:cs typeface="Gmarket Sans Light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DE8AFE6-6AD3-428D-8BA5-5F5C9A6DB4F4}"/>
              </a:ext>
            </a:extLst>
          </p:cNvPr>
          <p:cNvGrpSpPr/>
          <p:nvPr/>
        </p:nvGrpSpPr>
        <p:grpSpPr>
          <a:xfrm>
            <a:off x="10570440" y="5849094"/>
            <a:ext cx="6426200" cy="2512740"/>
            <a:chOff x="17482195" y="8715680"/>
            <a:chExt cx="6426200" cy="2512740"/>
          </a:xfrm>
        </p:grpSpPr>
        <p:pic>
          <p:nvPicPr>
            <p:cNvPr id="56" name="Picture 11">
              <a:extLst>
                <a:ext uri="{FF2B5EF4-FFF2-40B4-BE49-F238E27FC236}">
                  <a16:creationId xmlns:a16="http://schemas.microsoft.com/office/drawing/2014/main" id="{020B4BBD-AC47-4743-A2EB-89D17D535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140000">
              <a:off x="18018343" y="9452906"/>
              <a:ext cx="2433909" cy="1117119"/>
            </a:xfrm>
            <a:prstGeom prst="rect">
              <a:avLst/>
            </a:prstGeom>
          </p:spPr>
        </p:pic>
        <p:pic>
          <p:nvPicPr>
            <p:cNvPr id="57" name="Picture 23">
              <a:extLst>
                <a:ext uri="{FF2B5EF4-FFF2-40B4-BE49-F238E27FC236}">
                  <a16:creationId xmlns:a16="http://schemas.microsoft.com/office/drawing/2014/main" id="{09E229B5-4459-49F4-995A-F6E69DAE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681286" y="9139397"/>
              <a:ext cx="6227109" cy="13598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8" name="Picture 24">
              <a:extLst>
                <a:ext uri="{FF2B5EF4-FFF2-40B4-BE49-F238E27FC236}">
                  <a16:creationId xmlns:a16="http://schemas.microsoft.com/office/drawing/2014/main" id="{D7EAD432-4C87-4C54-8BDA-B816FA50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82195" y="8715680"/>
              <a:ext cx="5674080" cy="719333"/>
            </a:xfrm>
            <a:prstGeom prst="rect">
              <a:avLst/>
            </a:prstGeom>
            <a:effectLst>
              <a:outerShdw blurRad="36959" dist="106612" dir="2700000">
                <a:srgbClr val="000000">
                  <a:alpha val="20000"/>
                </a:srgbClr>
              </a:outerShdw>
            </a:effectLst>
          </p:spPr>
        </p:pic>
        <p:sp>
          <p:nvSpPr>
            <p:cNvPr id="59" name="TextBox 34">
              <a:extLst>
                <a:ext uri="{FF2B5EF4-FFF2-40B4-BE49-F238E27FC236}">
                  <a16:creationId xmlns:a16="http://schemas.microsoft.com/office/drawing/2014/main" id="{269F9CF9-372E-4A27-9F34-35BED91E5C11}"/>
                </a:ext>
              </a:extLst>
            </p:cNvPr>
            <p:cNvSpPr txBox="1"/>
            <p:nvPr/>
          </p:nvSpPr>
          <p:spPr>
            <a:xfrm>
              <a:off x="17659164" y="8873342"/>
              <a:ext cx="5309081" cy="443425"/>
            </a:xfrm>
            <a:prstGeom prst="rect">
              <a:avLst/>
            </a:prstGeom>
          </p:spPr>
          <p:txBody>
            <a:bodyPr lIns="0" tIns="41255" rIns="0" bIns="4125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공유</a:t>
              </a:r>
              <a:r>
                <a:rPr lang="en-US" altLang="ko-KR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/</a:t>
              </a:r>
              <a:r>
                <a:rPr lang="ko-KR" altLang="en-US" sz="2200" dirty="0">
                  <a:solidFill>
                    <a:srgbClr val="FFFFFF"/>
                  </a:solidFill>
                  <a:latin typeface="Gmarket Sans Bold"/>
                  <a:ea typeface="Gmarket Sans Bold"/>
                  <a:cs typeface="Gmarket Sans Bold"/>
                </a:rPr>
                <a:t>조회수</a:t>
              </a:r>
              <a:endParaRPr lang="en-US" sz="2200" b="0" i="0" u="none" strike="noStrike" dirty="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endParaRPr>
            </a:p>
          </p:txBody>
        </p:sp>
        <p:sp>
          <p:nvSpPr>
            <p:cNvPr id="60" name="TextBox 35">
              <a:extLst>
                <a:ext uri="{FF2B5EF4-FFF2-40B4-BE49-F238E27FC236}">
                  <a16:creationId xmlns:a16="http://schemas.microsoft.com/office/drawing/2014/main" id="{C52398B6-FCC8-4D38-850A-CC006D88C27F}"/>
                </a:ext>
              </a:extLst>
            </p:cNvPr>
            <p:cNvSpPr txBox="1"/>
            <p:nvPr/>
          </p:nvSpPr>
          <p:spPr>
            <a:xfrm>
              <a:off x="18145830" y="9641945"/>
              <a:ext cx="5286960" cy="610941"/>
            </a:xfrm>
            <a:prstGeom prst="rect">
              <a:avLst/>
            </a:prstGeom>
          </p:spPr>
          <p:txBody>
            <a:bodyPr lIns="0" tIns="30479" rIns="0" bIns="30479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1" i="0" u="none" strike="noStrike" dirty="0" err="1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인기글</a:t>
              </a:r>
              <a:r>
                <a:rPr lang="en-US" altLang="ko-KR" sz="2000" b="1" i="0" u="none" strike="noStrike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/</a:t>
              </a:r>
              <a:r>
                <a:rPr lang="ko-KR" altLang="en-US" sz="2000" b="1" i="0" u="none" strike="noStrike" dirty="0">
                  <a:solidFill>
                    <a:srgbClr val="000000"/>
                  </a:solidFill>
                  <a:latin typeface="Gmarket Sans Medium" panose="020B0600000101010101" charset="-127"/>
                  <a:ea typeface="Gmarket Sans Medium" panose="020B0600000101010101" charset="-127"/>
                  <a:cs typeface="Gmarket Sans Light"/>
                </a:rPr>
                <a:t>내가 쓴 글만 </a:t>
              </a:r>
              <a:r>
                <a:rPr lang="ko-KR" altLang="en-US" sz="2000" i="0" u="none" strike="noStrike" dirty="0">
                  <a:solidFill>
                    <a:srgbClr val="000000"/>
                  </a:solidFill>
                  <a:latin typeface="Gmarket Sans Light" panose="020B0600000101010101" charset="-127"/>
                  <a:ea typeface="Gmarket Sans Light" panose="020B0600000101010101" charset="-127"/>
                  <a:cs typeface="Gmarket Sans Light"/>
                </a:rPr>
                <a:t>공유가 가능합니다</a:t>
              </a:r>
              <a:endParaRPr lang="en-US" sz="2000" i="0" u="none" strike="noStrike" dirty="0">
                <a:solidFill>
                  <a:srgbClr val="000000"/>
                </a:solidFill>
                <a:latin typeface="Gmarket Sans Light" panose="020B0600000101010101" charset="-127"/>
                <a:ea typeface="Gmarket Sans Light" panose="020B0600000101010101" charset="-127"/>
                <a:cs typeface="Gmarket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28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E93B76FA-1F7E-42DE-B3F8-91D25044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965200"/>
            <a:ext cx="25488900" cy="2548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990600"/>
            <a:ext cx="52197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977900"/>
            <a:ext cx="156337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500" y="38100"/>
            <a:ext cx="24955500" cy="292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947150" y="6220587"/>
            <a:ext cx="6489700" cy="1701800"/>
          </a:xfrm>
          <a:prstGeom prst="rect">
            <a:avLst/>
          </a:prstGeom>
        </p:spPr>
        <p:txBody>
          <a:bodyPr lIns="0" tIns="1736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000" b="1" dirty="0">
                <a:solidFill>
                  <a:srgbClr val="1D70FF"/>
                </a:solidFill>
                <a:latin typeface="Gmarket Sans Medium"/>
                <a:ea typeface="Gmarket Sans Medium"/>
                <a:cs typeface="Gmarket Sans Medium"/>
              </a:rPr>
              <a:t>감사합니다</a:t>
            </a:r>
            <a:endParaRPr lang="en-US" sz="8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05000" y="1397000"/>
            <a:ext cx="7505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00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SSAFY X WINDOW 98</a:t>
            </a:r>
            <a:endParaRPr lang="en-US" sz="2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148300" y="1397000"/>
            <a:ext cx="4279900" cy="1612900"/>
          </a:xfrm>
          <a:prstGeom prst="rect">
            <a:avLst/>
          </a:prstGeom>
        </p:spPr>
        <p:txBody>
          <a:bodyPr lIns="0" tIns="42332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방호준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 이승우 이승진</a:t>
            </a:r>
            <a:endParaRPr lang="en-US" altLang="ko-KR" sz="25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31E2DA2-68CD-4331-B558-51A0008BB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3302" y="1066800"/>
            <a:ext cx="9167156" cy="12971526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097B22A7-97D0-42A7-9087-624382A7ACD6}"/>
              </a:ext>
            </a:extLst>
          </p:cNvPr>
          <p:cNvSpPr txBox="1"/>
          <p:nvPr/>
        </p:nvSpPr>
        <p:spPr>
          <a:xfrm>
            <a:off x="23926800" y="13106400"/>
            <a:ext cx="232708" cy="1143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endParaRPr lang="en-US" sz="2000" b="0" i="0" u="none" strike="noStrike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8907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354</Words>
  <Application>Microsoft Office PowerPoint</Application>
  <PresentationFormat>사용자 지정</PresentationFormat>
  <Paragraphs>79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Gmarket Sans Bold</vt:lpstr>
      <vt:lpstr>Arial</vt:lpstr>
      <vt:lpstr>Gmarket Sans Light</vt:lpstr>
      <vt:lpstr>Calibri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28</cp:revision>
  <dcterms:created xsi:type="dcterms:W3CDTF">2006-08-16T00:00:00Z</dcterms:created>
  <dcterms:modified xsi:type="dcterms:W3CDTF">2026-07-16T06:27:20Z</dcterms:modified>
</cp:coreProperties>
</file>